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Америку изучают как часть света из двух материков. Сегодня разберём её от Аляски до мыса Горн.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 слайда: два материка, но одна часть света.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Обратите внимание: на карте Меркатора Гренландия выглядит огромной, здесь — реальный размер.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Подчеркните: материк не был пустым, у него была своя история.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Свяжите горы с литосферными плитами: зона субдукции.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Аляска — пример субарктического и арктического климата.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Каньон — работа реки, а не разлома. Пример речной эрозии.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Снимок сделан со спутника — хорошо видна форма дельты.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расход воды с реками России: Волга — около 8000 м³/с.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Великие озёра — след древнего ледника.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Анхель открыли только в XX веке — он в труднодоступной части Венесуэлы.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Причина разнообразия — огромная протяжённость с севера на юг.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Секвойя — самое большое дерево планеты по объёму древесины.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Атакама сухая из-за холодного Перуанского течения и барьера Анд.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Перешеек сработал как мост между двумя разными мирами.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Инки строили в горах — это ответ на вопрос о связи рельефа и культуры.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разницу между Англо- и Латинской Америкой.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Спросите: почему люди селятся у моря, а не в сельве?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Канал — граница между материками и важнейший торговый 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слайд для вывода о связи человека и природы.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удобно использовать для повторения.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урока: четыре причины рассматривать Америку как единое целое.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указания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glob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СВЕТА · НОВЫЙ СВЕТ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Западное полушарие · снимок NASA Blue Marble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13716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600" kern="0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АМЕРИКА</a:t>
            </a:r>
            <a:endParaRPr lang="en-US" sz="96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32918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материка, сшитые тонким перешейком. Пятнадцать тысяч километров от арктических льдов Гренландии до мыса Горн — и по дороге все климатические пояса Земли.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42,2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 км²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292608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млрд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16636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СЕВЕРА НА ЮГ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pPr indent="0" marL="0">
              <a:buNone/>
            </a:pP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aribb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СОСТАВ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Пляж на острове Мухерес, Карибское море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материка — одна часть света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Северная и Южная Америка — два отдельных материка. Но как часть света их считают единым целым: открыты в одну эпоху, названы одним именем, соединены сушей.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685800" y="3291840"/>
            <a:ext cx="2880360" cy="2148840"/>
          </a:xfrm>
          <a:prstGeom prst="rect">
            <a:avLst/>
          </a:prstGeom>
          <a:solidFill>
            <a:srgbClr val="131C22">
              <a:alpha val="82000"/>
            </a:srgbClr>
          </a:solidFill>
          <a:ln w="12700">
            <a:solidFill>
              <a:srgbClr val="E2632B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86968" y="3456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Северная Америка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86968" y="3767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24,4 млн км²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886968" y="4251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3-е место среди материков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600 млн человек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государства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794760" y="3291840"/>
            <a:ext cx="2880360" cy="2148840"/>
          </a:xfrm>
          <a:prstGeom prst="rect">
            <a:avLst/>
          </a:prstGeom>
          <a:solidFill>
            <a:srgbClr val="131C22">
              <a:alpha val="82000"/>
            </a:srgbClr>
          </a:solidFill>
          <a:ln w="12700">
            <a:solidFill>
              <a:srgbClr val="31B79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995928" y="3456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Южная Америка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995928" y="3767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 млн км²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3995928" y="4251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4-е место среди материков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440 млн человек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государств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669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Границу проводят по Панамскому перешейку: в самом узком месте суша между океанами — всего 48 км.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ГЕОГРАФИЧЕСКОЕ ПОЛОЖЕНИЕ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Проекция Equal Earth · равновеликая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72° северной до 56° южной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5440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 вытянута вдоль меридиана почти на 15 000 км и пересекает экватор. Запад омывает Тихий океан, восток — Атлантический, север — Северный Ледовитый.</a:t>
            </a:r>
            <a:endParaRPr lang="en-US" sz="1350" dirty="0"/>
          </a:p>
        </p:txBody>
      </p:sp>
      <p:pic>
        <p:nvPicPr>
          <p:cNvPr id="8" name="Image 0" descr="/tmp/claude-0/-home-user-Emperator-coin/49c5487f-8bd5-5cd9-a01e-95065714b06d/scratchpad/map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777240"/>
            <a:ext cx="4846320" cy="4736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КРАЙНИЙ СЕВЕР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2313432" y="326440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 Мёрчисон, 71°50′ с.ш. — Канада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КРАЙНИЙ ЮГ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2313432" y="374904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 Фроуард, 53°54′ ю.ш.; с островами — мыс Горн, 55°59′ ю.ш.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507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ОКЕАНЫ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313432" y="4480560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Тихий, Атлантический, Северный Ледовитый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ПРОЕКЦИЯ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313432" y="496519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Earth: площади переданы верно — Гренландия меньше Южной Америки в 8 раз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hich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ИСТОРИЯ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Чичен-Ица, полуостров Юкатан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Открыта дважды и названа по ошибке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685800" y="2231136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978408" y="2130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40–15 тыс. лет назад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978408" y="236829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люди приходят из Азии по суше Берингии — там, где сейчас Берингов пролив.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85800" y="3163824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78408" y="30632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1000 года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978408" y="330098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Викинг Лейф Эриксон достигает Ньюфаундленда и называет землю Винланд. Европа об этом забывает.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85800" y="4096512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78408" y="39959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октября 1492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978408" y="423367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 высаживается на острове Гуанахани. До конца жизни он был уверен, что доплыл до Индии — отсюда «индейцы».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5029200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78408" y="492861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1507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78408" y="51663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Картограф Вальдземюллер подписывает на карте «America» — в честь Америго Веспуччи, понявшего, что это новый континент.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85800" y="59253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1492 году здесь уже тысячи лет жили майя, ацтеки и инки. «Открытие» — это взгляд со стороны Европы.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and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РЕЛЬЕФ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Аконкагуа, Аргентина · 32°39′ ю.ш.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Горный хребет длиной в два материка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Кордильеры на севере и Анды на юге — один непрерывный горный пояс вдоль западного побережья. Он поднялся там, где океанические плиты уходят под материк: отсюда вулканы и землетрясения.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18 000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ПОЯСА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292608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6961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АКОНКАГУА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16636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 ТОЛЬКО АНДЫ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4526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Аконкагуа — высшая точка не только Америки, но и всего Западного и Южного полушарий.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denal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СЕВЕР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парк Денали, Аляска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Аляска: горы, ледники, мерзлота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 материка — это тундра, вечная мерзлота и самые высокие горы Северной Америки. Ледники спускаются прямо к океану.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ДЕНАЛИ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299008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6190 м — высшая точка Северной Америки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3502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ГРЕНЛАНДИЯ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47472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остров Земли, 2,17 млн км², почти весь подо льдом толщиной до 3 км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233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 ХОЛОДА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206240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−63 °C, посёлок Снаг, Юкон, 1947 год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47183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МЕРЗЛОТА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4690872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занимает около половины площади Канады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any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РЕЛЬЕФ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Гранд-Каньон, Аризона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Великие равнины и Гранд-Каньон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Кордильерами и древними Аппалачами лежат Великие равнины — бывшее море трав. А река Колорадо за 5–6 млн лет пропилила в плато каньон глубиной почти два километра.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км вдоль реки Колорадо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3776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74904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1857 м — в слоях пород видно 2 млрд лет истории Земли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507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РАВНИНЫ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48056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Великие равнины и Центральные низменности — житница США и Канады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239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АППАЛАЧИ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21208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древние горы востока, сильно разрушены: высшая точка 2037 м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mississipp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РЕКИ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Дельта Миссисипи из космоса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Миссисипи: 6420 км с Миссури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река Северной Америки собирает воду почти со всей середины материка и выносит её в Мексиканский залив, строя в море дельту-«птичью лапу».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МИССУРИ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292608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 км²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БАССЕЙН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16636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pPr indent="0" marL="0">
              <a:buNone/>
            </a:pP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ШТАТ В БАССЕЙНЕ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4526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крупные реки севера: Маккензи, Юкон, Рио-Гранде, Святого Лаврентия.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amaz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РЕКИ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Сельва Амазонии, Бразилия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Амазонка — река-океан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полноводная река планеты. В Атлантику она выносит около 220 000 м³ воды в секунду — примерно пятую часть всей речной воды Земли.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6400 км, с истоком Укаяли — до 7100 км: спорит с Нилом за первое место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БАССЕЙН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 млн км² — больше площади Австралии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507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УСТЬЕ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48056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до 200 км, пресную воду чувствуют за 100 км от берега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239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ЖИЗНЬ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21208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свыше 3000 видов рыб, речные дельфины, анаконда, пираньи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niaga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ВОДА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Ниагарский водопад, граница США и Канады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Ниагара и Великие озёра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Великих озёр — крупнейшее скопление пресной воды на Земле. Из озера Эри в Онтарио вода падает с уступа: это Ниагарский водопад.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ПОДКОВА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790 м, высота падения 51 м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3776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74904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2400 м³/с; водопад отступает вверх по течению примерно на 30 см в год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507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ВЕРХНЕЕ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48056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82 100 км² — крупнейшее пресное озеро мира по площади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239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21208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Великие озёра хранят около 21% пресной поверхностной воды планеты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iguaz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ВОДА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Водопады Игуасу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275 каскадов Игуасу и падение с 979 метров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Юг Америки держит два водных рекорда: самый широкий комплекс водопадов и самый высокий водопад мира.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ИГУАСУ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299008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отдельных водопадов на фронте длиной 2,7 км, граница Аргентины и Бразилии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3749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АНХЕЛЬ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7216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 м, Венесуэла — вода распыляется в туман, не долетая до земли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480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ТИТИКАКА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4531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3812 м — самое высокогорное судоходное озеро планеты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МАРАКАЙБО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18464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крупнейшее озеро Южной Америки, 13 300 км²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patagon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КЛИМАТ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Торрес-дель-Пайне, Патагония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климатические пояса Земли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440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 — единственная часть света, которая тянется от Арктики до субантарктических широт. Пояса идут зеркально: от полюса к экватору и снова к полюсу.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6355080" y="731520"/>
            <a:ext cx="5257800" cy="5321808"/>
          </a:xfrm>
          <a:prstGeom prst="rect">
            <a:avLst/>
          </a:prstGeom>
          <a:solidFill>
            <a:srgbClr val="080D11">
              <a:alpha val="84000"/>
            </a:srgbClr>
          </a:solidFill>
          <a:ln w="12700">
            <a:solidFill>
              <a:srgbClr val="080D11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492240" y="868680"/>
            <a:ext cx="4983480" cy="365760"/>
          </a:xfrm>
          <a:prstGeom prst="rect">
            <a:avLst/>
          </a:prstGeom>
          <a:solidFill>
            <a:srgbClr val="96C8E1">
              <a:alpha val="42000"/>
            </a:srgbClr>
          </a:solidFill>
          <a:ln w="6350">
            <a:solidFill>
              <a:srgbClr val="96C8E1">
                <a:alpha val="6000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656832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Арктический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26880" y="868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 Гренландии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492240" y="1298448"/>
            <a:ext cx="4983480" cy="365760"/>
          </a:xfrm>
          <a:prstGeom prst="rect">
            <a:avLst/>
          </a:prstGeom>
          <a:solidFill>
            <a:srgbClr val="78B9D7">
              <a:alpha val="42000"/>
            </a:srgbClr>
          </a:solidFill>
          <a:ln w="6350">
            <a:solidFill>
              <a:srgbClr val="78B9D7">
                <a:alpha val="6000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56832" y="1298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Субарктический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326880" y="12984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Аляска, Лабрадор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492240" y="1728216"/>
            <a:ext cx="4983480" cy="365760"/>
          </a:xfrm>
          <a:prstGeom prst="rect">
            <a:avLst/>
          </a:prstGeom>
          <a:solidFill>
            <a:srgbClr val="5AAFAF">
              <a:alpha val="42000"/>
            </a:srgbClr>
          </a:solidFill>
          <a:ln w="6350">
            <a:solidFill>
              <a:srgbClr val="5AAFAF">
                <a:alpha val="6000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656832" y="1728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Умеренный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326880" y="172821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Канада, север США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92240" y="2157984"/>
            <a:ext cx="4983480" cy="365760"/>
          </a:xfrm>
          <a:prstGeom prst="rect">
            <a:avLst/>
          </a:prstGeom>
          <a:solidFill>
            <a:srgbClr val="50B496">
              <a:alpha val="42000"/>
            </a:srgbClr>
          </a:solidFill>
          <a:ln w="6350">
            <a:solidFill>
              <a:srgbClr val="50B496">
                <a:alpha val="60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656832" y="2157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Субтропический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326880" y="21579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Калифорния, Флорида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492240" y="2587752"/>
            <a:ext cx="4983480" cy="365760"/>
          </a:xfrm>
          <a:prstGeom prst="rect">
            <a:avLst/>
          </a:prstGeom>
          <a:solidFill>
            <a:srgbClr val="78B469">
              <a:alpha val="42000"/>
            </a:srgbClr>
          </a:solidFill>
          <a:ln w="6350">
            <a:solidFill>
              <a:srgbClr val="78B469">
                <a:alpha val="6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656832" y="2587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Тропический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326880" y="2587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Мексика, Куба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492240" y="3017520"/>
            <a:ext cx="4983480" cy="365760"/>
          </a:xfrm>
          <a:prstGeom prst="rect">
            <a:avLst/>
          </a:prstGeom>
          <a:solidFill>
            <a:srgbClr val="B4B45A">
              <a:alpha val="42000"/>
            </a:srgbClr>
          </a:solidFill>
          <a:ln w="6350">
            <a:solidFill>
              <a:srgbClr val="B4B45A">
                <a:alpha val="6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656832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Субэкваториальный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932688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Панама, Венесуэла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492240" y="3447288"/>
            <a:ext cx="4983480" cy="365760"/>
          </a:xfrm>
          <a:prstGeom prst="rect">
            <a:avLst/>
          </a:prstGeom>
          <a:solidFill>
            <a:srgbClr val="F0BB52">
              <a:alpha val="42000"/>
            </a:srgbClr>
          </a:solidFill>
          <a:ln w="6350">
            <a:solidFill>
              <a:srgbClr val="F0BB52">
                <a:alpha val="6000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656832" y="3447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Экваториальный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326880" y="34472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Амазония, Эквадор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492240" y="3877056"/>
            <a:ext cx="4983480" cy="365760"/>
          </a:xfrm>
          <a:prstGeom prst="rect">
            <a:avLst/>
          </a:prstGeom>
          <a:solidFill>
            <a:srgbClr val="B4B45A">
              <a:alpha val="42000"/>
            </a:srgbClr>
          </a:solidFill>
          <a:ln w="6350">
            <a:solidFill>
              <a:srgbClr val="B4B45A">
                <a:alpha val="6000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656832" y="38770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Субэкваториальный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9326880" y="38770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льянос, кампос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492240" y="4306824"/>
            <a:ext cx="4983480" cy="365760"/>
          </a:xfrm>
          <a:prstGeom prst="rect">
            <a:avLst/>
          </a:prstGeom>
          <a:solidFill>
            <a:srgbClr val="78B469">
              <a:alpha val="42000"/>
            </a:srgbClr>
          </a:solidFill>
          <a:ln w="6350">
            <a:solidFill>
              <a:srgbClr val="78B469">
                <a:alpha val="6000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656832" y="4306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Тропический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9326880" y="43068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Бразилия, Атакама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492240" y="4736592"/>
            <a:ext cx="4983480" cy="365760"/>
          </a:xfrm>
          <a:prstGeom prst="rect">
            <a:avLst/>
          </a:prstGeom>
          <a:solidFill>
            <a:srgbClr val="50B496">
              <a:alpha val="42000"/>
            </a:srgbClr>
          </a:solidFill>
          <a:ln w="6350">
            <a:solidFill>
              <a:srgbClr val="50B496">
                <a:alpha val="6000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656832" y="4736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Субтропический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9326880" y="47365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Пампа, средняя Чили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492240" y="5166360"/>
            <a:ext cx="4983480" cy="365760"/>
          </a:xfrm>
          <a:prstGeom prst="rect">
            <a:avLst/>
          </a:prstGeom>
          <a:solidFill>
            <a:srgbClr val="5AAFAF">
              <a:alpha val="42000"/>
            </a:srgbClr>
          </a:solidFill>
          <a:ln w="6350">
            <a:solidFill>
              <a:srgbClr val="5AAFAF">
                <a:alpha val="6000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656832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Умеренный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9326880" y="5166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Патагония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492240" y="5596128"/>
            <a:ext cx="4983480" cy="365760"/>
          </a:xfrm>
          <a:prstGeom prst="rect">
            <a:avLst/>
          </a:prstGeom>
          <a:solidFill>
            <a:srgbClr val="96C8E1">
              <a:alpha val="42000"/>
            </a:srgbClr>
          </a:solidFill>
          <a:ln w="6350">
            <a:solidFill>
              <a:srgbClr val="96C8E1">
                <a:alpha val="6000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6656832" y="5596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Субантарктический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9326880" y="5596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Огненная Земля</a:t>
            </a:r>
            <a:endParaRPr lang="en-US" sz="95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9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2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5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54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63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sequo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ПРИРОДНЫЕ ЗОНЫ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Роща секвойядендронов, Калифорния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тундры до секвойных лесов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севере зоны сменяют друг друга строго с севера на юг: арктические пустыни, тундра, тайга, смешанные леса, прерии, пустыни.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ТАЙГА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лесной пояс материка, от Аляски до Ньюфаундленда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ПРЕРИИ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степи Великих равнин, некогда — стада бизонов в десятки миллионов голов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СЕКВОЙИ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«Генерал Шерман»: 1487 м³ древесины, высота 83,8 м, возраст около 2500 лет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486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ДОЛИНА СМЕРТИ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4589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−86 м ниже уровня моря и +56,7 °C — рекорд жары для Земли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atacam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ПРИРОДНЫЕ ЗОНЫ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Пустыня Атакама, Чили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Сельва, льянос, пампа, Атакама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Юг устроен сложнее: зоны меняются не только с севера на юг, но и с запада на восток — из-за Анд, которые перехватывают влагу.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СЕЛЬВА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влажные экваториальные леса Амазонии, 5,5 млн км² — около 10% всех видов Земли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ЛЬЯНОС И КАМПОС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саванны Ориноко и Бразильского плоскогорья: полгода потоп, полгода сушь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ПАМПА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степи Аргентины с чернозёмами — мясо и пшеница на весь мир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486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АТАКАМА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4589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сухая пустыня планеты: на отдельных станциях дождя не было десятилетиями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ЖИВОТНЫЙ МИР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Пантанал, Бразилия · и Анды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Великий американский обмен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лет материки были разделены океаном, и жизнь на них развивалась по-разному. Около 3 млн лет назад поднялся Панамский перешеек — и животные хлынули навстречу друг другу.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ЮГ УШЛИ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404872" y="3538728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ягуары, пумы, олени, медведи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050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СЕВЕР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404872" y="40233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броненосцы, опоссумы, дикобразы, ленивцы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535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ЭНДЕМИКИ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404872" y="450799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лама и альпака, анаконда, колибри, бизон, белоголовый орлан</a:t>
            </a:r>
            <a:endParaRPr lang="en-US" sz="1300" dirty="0"/>
          </a:p>
        </p:txBody>
      </p:sp>
      <p:pic>
        <p:nvPicPr>
          <p:cNvPr id="14" name="Image 0" descr="/home/user/Emperator-coin/presentations/america/img/jagu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868680"/>
            <a:ext cx="4983480" cy="20574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92240" y="29718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Ягуар · 100 кг · самый сильный укус среди кошачьих</a:t>
            </a:r>
            <a:endParaRPr lang="en-US" sz="950" dirty="0"/>
          </a:p>
        </p:txBody>
      </p:sp>
      <p:pic>
        <p:nvPicPr>
          <p:cNvPr id="16" name="Image 1" descr="/home/user/Emperator-coin/presentations/america/img/condo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474720"/>
            <a:ext cx="4983480" cy="2057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5577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Андский кондор · размах крыльев до 3,3 м</a:t>
            </a:r>
            <a:endParaRPr lang="en-US" sz="95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mach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ЛЮДИ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Мачу-Пикчу, Перу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Майя, ацтеки и инки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прихода европейцев здесь стояли города крупнее большинства европейских. Их построили без железных инструментов, колеса и вьючных лошадей.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МАЙЯ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письменность, точный календарь и понятие нуля — раньше, чем в Европе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АЦТЕКИ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Теночтитлан на острове посреди озера, около 200 тысяч жителей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ИНКИ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империя Тауантинсуйу и 40 000 км горных дорог без колеса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486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МАЧУ-ПИКЧУ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4589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на высоте 2430 м: между блоками не входит лезвие ножа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ny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НАСЕЛЕНИЕ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Нижний Манхэттен, Нью-Йорк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 миллиарда человек, 35 стран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Америку населяют потомки коренных народов, переселенцев из Европы, африканцев, привезённых сюда насильно, и мигрантов из Азии. Отсюда — «плавильный котёл».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КРУПНЕЙШИЕ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Канада 9,98 · США 9,83 · Бразилия 8,51 млн км²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3776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74904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испанский (около 420 млн), английский, португальский (215 млн), кечуа, гуарани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507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48056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Англо-Америка (США и Канада) и Латинская Америка — южнее Рио-Гранде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239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ГОРОДА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212080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80% жителей — горожане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r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ГОРОДА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Рио-де-Жанейро, Бразилия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Города на берегу и в облаках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 крупные города Южной Америки стоят либо на побережье, либо высоко в Андах — внутренние районы сельвы остаются почти пустыми.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САН-ПАУЛУ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22 млн человек в агломерации — крупнейший город Южного полушария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ЛА-ПАС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3640 м — самая высокогорная столица мира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507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МЕХИКО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48056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млн жителей на высоте 2240 м, в котловине древнего озера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239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БРАЗИЛИА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21208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столица, построенная в пустом центре страны с нуля за 4 года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panam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ЧЕЛОВЕК И МАТЕРИК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Шлюзы Мирафлорес, Панама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километра, разрезавшие сушу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Панамский канал соединил два океана в 1914 году. Судно не просто плывёт насквозь: шлюзы поднимают его на 26 метров к озеру Гатун и потом опускают обратно.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КАНАЛА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292608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ПОДЪЁМ В ШЛЮЗАХ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16636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13 000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ПУТИ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pPr indent="0" marL="0">
              <a:buNone/>
            </a:pP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СУДОВ В ГОД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526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канала из Нью-Йорка в Сан-Франциско приходилось огибать весь материк через мыс Горн.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greenl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УГРОЗЫ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Ледниковый щит Гренландии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материк теряет прямо сейчас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АМАЗОНИЯ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2450592" y="230428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вырублено уже около 17–20% сельвы: лес расчищают под пастбища и сою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ГРЕНЛАНДИЯ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2450592" y="30358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ледниковый щит теряет около 270 млрд тонн льда в год — океан поднимается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КАРИБЫ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2450592" y="37673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ураганы становятся мощнее: тёплый океан — топливо для шторма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АНДЫ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2450592" y="44988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горные ледники тают, а от них зависит вода для Лимы, Ла-Паса и Кито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577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Амазонский лес удерживает огромное количество углерода. Его сведение меняет климат далеко за пределами Южной Америки.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РЕКОРДЫ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Рекорды планетарного масштаба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Америка в превосходной степени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Кордильеры и Анды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длинная горная система суши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18 000 км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Амазонка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2221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полноводная река мира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22219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220 000 м³/с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660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Анхель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2660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высокий водопад мира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26609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 м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099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Атакама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сухая пустыня мира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309981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мм/год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538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Титикака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высокогорное судоходное озеро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3538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3812 м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Гренландия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остров Земли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2 166 000 км²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4416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Верхнее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крупнейшее пресное озеро по площади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4416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82 100 км²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4855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«Генерал Шерман»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754880" y="4855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большое дерево планеты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418320" y="485546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1487 м³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52943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Аконкагуа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754880" y="5294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высшая точка Западного полушария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418320" y="52943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6961 м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733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Долина Смерти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4754880" y="5733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 жары на Земле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418320" y="57332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+56,7 °C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0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9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27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45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54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63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glob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Америку изучают как единое целое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РЕЛЬЕФ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2450592" y="230428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горный пояс тянется от Аляски до Огненной Земли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2450592" y="30358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материка заселялись из Азии и были «открыты» Европой в одну эпоху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ПРИРОДА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2450592" y="37673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перешеек связал их в единую экосистему: виды перемешались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2450592" y="44988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экономика, тесные связи и общие экологические проблемы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577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 — часть света, где на одном меридиане помещаются вечная мерзлота, экваториальный лес и ледники Патагонии.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и лицензии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 — Wikimedia Commons, свободные лицензии и общественное достояние. Контуры материков — Natural Earth (110 м), проекция Equal Earth.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Marble Western Hemisphere.jpg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NASA images by Reto Stöckli, based on data from NASA and NOAA. I…  ·  Public domain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620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on the Caribbean side of Isla Mujeres (4257546308).jpg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Šarūnas Burdulis from USA  ·  CC BY-SA 2.0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95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Chichen Itza 3.jpg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Daniel Schwen  ·  CC BY-SA 4.0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5570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Aconcagua Provincial Park 04.jpg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Bernard Gagnon  ·  CC BY-SA 4.0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9044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nacional y reserva Denali, Alaska, Estados Unidos, 2017-08-30, DD 72.jpg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Diego Delso  ·  CC BY-SA 4.0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2519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Canyon Hopi Point with rainbow 2013.jpg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Tuxyso  ·  CC BY-SA 3.0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599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 delta from space.jpg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NASA  ·  Public domain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9469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view of the Amazon Rainforest.jpg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lubasi  ·  CC BY-SA 2.0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2943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Niagara Falls Horseshoe Falls 03.jpg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FuchsiaPeacock  ·  CC BY-SA 4.0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6418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1838 Iguazu Falls from the Brazilian side.jpg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W. Bulach  ·  CC BY-SA 4.0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5146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Cuernos del Paine in Torres del Paine National Park.jpg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Pedro Szekely from Los Angeles, USA  ·  CC BY-SA 2.0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8620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Sequoiadendron giganteum kz11.jpg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Krzysztof Ziarnek, Kenraiz  ·  CC BY-SA 4.0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32095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Catedrales de Tara, Chile, 2016-02-07, DD 62.JPG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Diego Delso  ·  CC BY-SA 4.0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5570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(Panthera onca palustris) male Rio Negro 2.JPG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Charles J. Sharp  ·  CC BY-SA 4.0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39044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des Andes mâle adulte.jpg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Hugo Pedel  ·  CC BY-SA 3.0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42519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Machu Picchu, Perú, 2015-07-30, DD 47.JPG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Diego Delso  ·  CC BY-SA 4.0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4599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 from Governors Island with a fishing boat (46294p).jpg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Rhododendrites  ·  CC BY-SA 4.0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49469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 view of Rio de Janeiro at dusk from Sugarloaf Mountain, Brazil.jpg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Wilfredor  ·  CC0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6172200" y="52943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Panama Canal Miraflores Locks.jpg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User:Stan Shebs  ·  CC BY-SA 3.0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56418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Greenland Glacier Is Growing.jpeg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NASA Earth Observatory images by Joshua Stevens, using Landsat d…  ·  Public domain</a:t>
            </a:r>
            <a:endParaRPr lang="en-US" sz="85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0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9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27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45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Америка — презентация по географии</dc:title>
  <dc:subject>Северная и Южная Америка</dc:subject>
  <dc:creator>PptxGenJS</dc:creator>
  <cp:lastModifiedBy>PptxGenJS</cp:lastModifiedBy>
  <cp:revision>1</cp:revision>
  <dcterms:created xsi:type="dcterms:W3CDTF">2026-09-14T18:03:53Z</dcterms:created>
  <dcterms:modified xsi:type="dcterms:W3CDTF">2026-09-14T18:03:53Z</dcterms:modified>
</cp:coreProperties>
</file>